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8595" y="2264656"/>
            <a:ext cx="1928420" cy="3243252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2B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3459" y="2278372"/>
            <a:ext cx="181869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720" b="1">
                <a:solidFill>
                  <a:srgbClr val="2B67A0"/>
                </a:solidFill>
                <a:latin typeface="Arial"/>
              </a:defRPr>
            </a:pPr>
            <a:r>
              <a:t>1)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29199" y="2463873"/>
            <a:ext cx="2090184" cy="3402625"/>
          </a:xfrm>
          <a:prstGeom prst="roundRect">
            <a:avLst/>
          </a:prstGeom>
          <a:solidFill>
            <a:srgbClr val="D9F3F0"/>
          </a:solidFill>
          <a:ln w="9525">
            <a:solidFill>
              <a:srgbClr val="2B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84063" y="2477589"/>
            <a:ext cx="19804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720" b="1">
                <a:solidFill>
                  <a:srgbClr val="2B7C73"/>
                </a:solidFill>
                <a:latin typeface="Arial"/>
              </a:defRPr>
            </a:pPr>
            <a:r>
              <a:t>2) Preparation &amp;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95910" y="1579349"/>
            <a:ext cx="2059106" cy="4613864"/>
          </a:xfrm>
          <a:prstGeom prst="roundRect">
            <a:avLst/>
          </a:prstGeom>
          <a:solidFill>
            <a:srgbClr val="FDE8C8"/>
          </a:solidFill>
          <a:ln w="9525">
            <a:solidFill>
              <a:srgbClr val="C8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774" y="1593065"/>
            <a:ext cx="194937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720" b="1">
                <a:solidFill>
                  <a:srgbClr val="C86A12"/>
                </a:solidFill>
                <a:latin typeface="Arial"/>
              </a:defRPr>
            </a:pPr>
            <a:r>
              <a:t>3) Retrieval &amp;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1543" y="2886213"/>
            <a:ext cx="3378719" cy="200013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E7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6407" y="2899929"/>
            <a:ext cx="326899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720" b="1">
                <a:solidFill>
                  <a:srgbClr val="4E7D45"/>
                </a:solidFill>
                <a:latin typeface="Arial"/>
              </a:defRPr>
            </a:pPr>
            <a:r>
              <a:t>4) Structured outputs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9516" y="3818548"/>
            <a:ext cx="87656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27172" y="3013711"/>
            <a:ext cx="0" cy="804837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27172" y="3013711"/>
            <a:ext cx="965405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74291" y="3300584"/>
            <a:ext cx="0" cy="223123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74291" y="4097452"/>
            <a:ext cx="0" cy="223123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91884" y="4631353"/>
            <a:ext cx="87656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179540" y="2424029"/>
            <a:ext cx="0" cy="2207324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79540" y="2424029"/>
            <a:ext cx="669767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49307" y="2408092"/>
            <a:ext cx="0" cy="15937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49307" y="2408092"/>
            <a:ext cx="87655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39516" y="4934163"/>
            <a:ext cx="358591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98107" y="4934163"/>
            <a:ext cx="0" cy="517964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98107" y="5452127"/>
            <a:ext cx="462582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74291" y="4942132"/>
            <a:ext cx="0" cy="223123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91884" y="4631353"/>
            <a:ext cx="643869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735753" y="3810579"/>
            <a:ext cx="0" cy="820774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35753" y="3810579"/>
            <a:ext cx="87656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25463" y="2973868"/>
            <a:ext cx="0" cy="270935"/>
          </a:xfrm>
          <a:prstGeom prst="line">
            <a:avLst/>
          </a:prstGeom>
          <a:ln w="12065">
            <a:solidFill>
              <a:srgbClr val="546E7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23711" y="2990463"/>
            <a:ext cx="6035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20" b="0">
                <a:solidFill>
                  <a:srgbClr val="263238"/>
                </a:solidFill>
                <a:latin typeface="Arial"/>
              </a:defRPr>
            </a:pPr>
            <a:r>
              <a:t>cosine search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5463" y="4376356"/>
            <a:ext cx="0" cy="270935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23711" y="4392951"/>
            <a:ext cx="6035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20" b="0">
                <a:solidFill>
                  <a:srgbClr val="263238"/>
                </a:solidFill>
                <a:latin typeface="Arial"/>
              </a:defRPr>
            </a:pPr>
            <a:r>
              <a:t>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39516" y="4934163"/>
            <a:ext cx="87656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27172" y="4934163"/>
            <a:ext cx="0" cy="988116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27172" y="5922279"/>
            <a:ext cx="2830474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457646" y="4910257"/>
            <a:ext cx="0" cy="1012022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57646" y="4910257"/>
            <a:ext cx="631120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40657" y="5803407"/>
            <a:ext cx="6035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20" b="0">
                <a:solidFill>
                  <a:srgbClr val="263238"/>
                </a:solidFill>
                <a:latin typeface="Arial"/>
              </a:defRPr>
            </a:pPr>
            <a:r>
              <a:t>request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25463" y="5173223"/>
            <a:ext cx="0" cy="270935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13964" y="5754937"/>
            <a:ext cx="757423" cy="0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271387" y="3475895"/>
            <a:ext cx="0" cy="2279042"/>
          </a:xfrm>
          <a:prstGeom prst="line">
            <a:avLst/>
          </a:prstGeom>
          <a:ln w="17145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71387" y="3475895"/>
            <a:ext cx="87655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09342" y="3475895"/>
            <a:ext cx="382496" cy="0"/>
          </a:xfrm>
          <a:prstGeom prst="line">
            <a:avLst/>
          </a:prstGeom>
          <a:ln w="17145">
            <a:solidFill>
              <a:srgbClr val="546E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27518" y="3810579"/>
            <a:ext cx="87655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15173" y="3810579"/>
            <a:ext cx="0" cy="621557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15173" y="4432136"/>
            <a:ext cx="2476665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651753" y="4313264"/>
            <a:ext cx="6035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20" b="0">
                <a:solidFill>
                  <a:srgbClr val="263238"/>
                </a:solidFill>
                <a:latin typeface="Arial"/>
              </a:defRPr>
            </a:pPr>
            <a:r>
              <a:t>provenance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396080" y="2838401"/>
            <a:ext cx="87656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83736" y="2408092"/>
            <a:ext cx="0" cy="430309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83736" y="2408092"/>
            <a:ext cx="2973910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457646" y="2408092"/>
            <a:ext cx="0" cy="749056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457646" y="3157148"/>
            <a:ext cx="1267817" cy="0"/>
          </a:xfrm>
          <a:prstGeom prst="line">
            <a:avLst/>
          </a:prstGeom>
          <a:ln w="12065">
            <a:solidFill>
              <a:srgbClr val="546E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25463" y="3157148"/>
            <a:ext cx="0" cy="87655"/>
          </a:xfrm>
          <a:prstGeom prst="line">
            <a:avLst/>
          </a:prstGeom>
          <a:ln w="12065">
            <a:solidFill>
              <a:srgbClr val="546E7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68939" y="2289220"/>
            <a:ext cx="6035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20" b="0">
                <a:solidFill>
                  <a:srgbClr val="263238"/>
                </a:solidFill>
                <a:latin typeface="Arial"/>
              </a:defRPr>
            </a:pPr>
            <a:r>
              <a:t>configuration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6094" y="3372302"/>
            <a:ext cx="1673422" cy="8924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094" y="3372302"/>
            <a:ext cx="1673422" cy="49087"/>
          </a:xfrm>
          <a:prstGeom prst="rect">
            <a:avLst/>
          </a:prstGeom>
          <a:solidFill>
            <a:srgbClr val="E3F2FD"/>
          </a:solidFill>
          <a:ln w="2540"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43141" y="3632552"/>
            <a:ext cx="249004" cy="343073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89830" y="3599351"/>
            <a:ext cx="249004" cy="343073"/>
          </a:xfrm>
          <a:prstGeom prst="roundRect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136518" y="3704486"/>
            <a:ext cx="155628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36518" y="3770888"/>
            <a:ext cx="155628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6518" y="3837289"/>
            <a:ext cx="114127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585665" y="3586500"/>
            <a:ext cx="870179" cy="303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819" b="1">
                <a:solidFill>
                  <a:srgbClr val="263238"/>
                </a:solidFill>
                <a:latin typeface="Arial"/>
              </a:defRPr>
            </a:pPr>
            <a:r>
              <a:t>Knowledge files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85665" y="3925647"/>
            <a:ext cx="870179" cy="1606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620" b="0">
                <a:solidFill>
                  <a:srgbClr val="263238"/>
                </a:solidFill>
                <a:latin typeface="Arial"/>
              </a:defRPr>
            </a:pPr>
            <a:r>
              <a:t>5 formats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6094" y="4487917"/>
            <a:ext cx="1673422" cy="8924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6094" y="4487917"/>
            <a:ext cx="1673422" cy="49087"/>
          </a:xfrm>
          <a:prstGeom prst="rect">
            <a:avLst/>
          </a:prstGeom>
          <a:solidFill>
            <a:srgbClr val="E3F2FD"/>
          </a:solidFill>
          <a:ln w="2540"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22391" y="4748167"/>
            <a:ext cx="342381" cy="32094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74267" y="4820101"/>
            <a:ext cx="233442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74267" y="4886503"/>
            <a:ext cx="191941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74267" y="4952904"/>
            <a:ext cx="249005" cy="0"/>
          </a:xfrm>
          <a:prstGeom prst="line">
            <a:avLst/>
          </a:prstGeom>
          <a:ln w="889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585665" y="4702115"/>
            <a:ext cx="870179" cy="303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819" b="1">
                <a:solidFill>
                  <a:srgbClr val="263238"/>
                </a:solidFill>
                <a:latin typeface="Arial"/>
              </a:defRPr>
            </a:pPr>
            <a:r>
              <a:t>User request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00705" y="2558700"/>
            <a:ext cx="928988" cy="298346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252176" y="2580454"/>
            <a:ext cx="928988" cy="298346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203647" y="2602208"/>
            <a:ext cx="928988" cy="298346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8857" y="2962711"/>
            <a:ext cx="1247895" cy="1429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0" b="1">
                <a:solidFill>
                  <a:srgbClr val="263238"/>
                </a:solidFill>
                <a:latin typeface="Arial"/>
              </a:defRPr>
            </a:pPr>
            <a:r>
              <a:t>Runtime settings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857" y="3062160"/>
            <a:ext cx="1247895" cy="808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k=3 · 400/80 · T=0.2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92577" y="2726839"/>
            <a:ext cx="1163427" cy="573744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0748" y="2927649"/>
            <a:ext cx="1047084" cy="131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Document loader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78625" y="3523707"/>
            <a:ext cx="1391331" cy="573744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48191" y="3724517"/>
            <a:ext cx="1252197" cy="131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Overlapping chunker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48191" y="4017126"/>
            <a:ext cx="1252197" cy="745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400 chars · 80 overlap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60689" y="5165255"/>
            <a:ext cx="1627204" cy="573744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42049" y="5366065"/>
            <a:ext cx="1464483" cy="131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Retrieval query builder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56697" y="4320575"/>
            <a:ext cx="1835186" cy="621556"/>
          </a:xfrm>
          <a:prstGeom prst="roundRect">
            <a:avLst/>
          </a:prstGeom>
          <a:solidFill>
            <a:srgbClr val="D9F3F0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48456" y="4538119"/>
            <a:ext cx="1651667" cy="1429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Shared BGE text encoder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48456" y="4855113"/>
            <a:ext cx="1651667" cy="808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bge-small-zh · normalized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36962" y="1842316"/>
            <a:ext cx="1577001" cy="11315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36962" y="1842316"/>
            <a:ext cx="1577001" cy="62235"/>
          </a:xfrm>
          <a:prstGeom prst="rect">
            <a:avLst/>
          </a:prstGeom>
          <a:solidFill>
            <a:srgbClr val="EDE2F7"/>
          </a:solidFill>
          <a:ln w="2540">
            <a:solidFill>
              <a:srgbClr val="ED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425201" y="2028455"/>
            <a:ext cx="600521" cy="87582"/>
          </a:xfrm>
          <a:prstGeom prst="ellipse">
            <a:avLst/>
          </a:prstGeom>
          <a:solidFill>
            <a:srgbClr val="C9B8E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425201" y="2072247"/>
            <a:ext cx="600521" cy="209223"/>
          </a:xfrm>
          <a:prstGeom prst="roundRect">
            <a:avLst/>
          </a:prstGeom>
          <a:solidFill>
            <a:srgbClr val="EEE8F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425201" y="2237678"/>
            <a:ext cx="600521" cy="87582"/>
          </a:xfrm>
          <a:prstGeom prst="ellipse">
            <a:avLst/>
          </a:prstGeom>
          <a:solidFill>
            <a:srgbClr val="C9B8E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571457" y="2150096"/>
            <a:ext cx="29194" cy="29194"/>
          </a:xfrm>
          <a:prstGeom prst="ellipse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710864" y="2189022"/>
            <a:ext cx="29194" cy="29194"/>
          </a:xfrm>
          <a:prstGeom prst="ellipse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850270" y="2130634"/>
            <a:ext cx="29194" cy="29194"/>
          </a:xfrm>
          <a:prstGeom prst="ellipse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15812" y="2611771"/>
            <a:ext cx="1419300" cy="226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263238"/>
                </a:solidFill>
                <a:latin typeface="Arial"/>
              </a:defRPr>
            </a:pPr>
            <a:r>
              <a:t>Chroma vector store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63122" y="2815450"/>
            <a:ext cx="1324680" cy="1131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00" b="0">
                <a:solidFill>
                  <a:srgbClr val="263238"/>
                </a:solidFill>
                <a:latin typeface="Arial"/>
              </a:defRPr>
            </a:pPr>
            <a:r>
              <a:t>cosine HNSW index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823409" y="3244803"/>
            <a:ext cx="1804108" cy="113155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823409" y="3244803"/>
            <a:ext cx="1804108" cy="62235"/>
          </a:xfrm>
          <a:prstGeom prst="rect">
            <a:avLst/>
          </a:prstGeom>
          <a:solidFill>
            <a:srgbClr val="FDE8C8"/>
          </a:solidFill>
          <a:ln w="2540">
            <a:solidFill>
              <a:srgbClr val="FD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381960" y="3455271"/>
            <a:ext cx="662468" cy="58388"/>
          </a:xfrm>
          <a:prstGeom prst="roundRect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381960" y="3547719"/>
            <a:ext cx="515253" cy="58388"/>
          </a:xfrm>
          <a:prstGeom prst="roundRect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381960" y="3640166"/>
            <a:ext cx="380305" cy="58388"/>
          </a:xfrm>
          <a:prstGeom prst="roundRect">
            <a:avLst/>
          </a:prstGeom>
          <a:solidFill>
            <a:srgbClr val="FDE8C8"/>
          </a:solidFill>
          <a:ln w="889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6602" y="3465003"/>
            <a:ext cx="294430" cy="681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00" b="0">
                <a:solidFill>
                  <a:srgbClr val="26323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36602" y="3557451"/>
            <a:ext cx="294430" cy="681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00" b="0">
                <a:solidFill>
                  <a:srgbClr val="26323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36602" y="3649898"/>
            <a:ext cx="294430" cy="681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00" b="0">
                <a:solidFill>
                  <a:srgbClr val="26323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13614" y="4014258"/>
            <a:ext cx="1623697" cy="226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263238"/>
                </a:solidFill>
                <a:latin typeface="Arial"/>
              </a:defRPr>
            </a:pPr>
            <a:r>
              <a:t>Top-k similarity retrieval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67737" y="4217937"/>
            <a:ext cx="1515450" cy="1131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00" b="0">
                <a:solidFill>
                  <a:srgbClr val="263238"/>
                </a:solidFill>
                <a:latin typeface="Arial"/>
              </a:defRPr>
            </a:pPr>
            <a:r>
              <a:t>k = 3</a:t>
            </a:r>
          </a:p>
        </p:txBody>
      </p:sp>
      <p:sp>
        <p:nvSpPr>
          <p:cNvPr id="104" name="Oval 103"/>
          <p:cNvSpPr/>
          <p:nvPr/>
        </p:nvSpPr>
        <p:spPr>
          <a:xfrm>
            <a:off x="6317976" y="4710402"/>
            <a:ext cx="814972" cy="336596"/>
          </a:xfrm>
          <a:prstGeom prst="ellipse">
            <a:avLst/>
          </a:prstGeom>
          <a:solidFill>
            <a:srgbClr val="E1F1DB"/>
          </a:solidFill>
          <a:ln w="1397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17976" y="4710402"/>
            <a:ext cx="814972" cy="336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3238"/>
                </a:solidFill>
                <a:latin typeface="Arial"/>
              </a:defRPr>
            </a:pPr>
            <a:r>
              <a:t>RAG prompt fusion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936962" y="5444158"/>
            <a:ext cx="1577001" cy="621556"/>
          </a:xfrm>
          <a:prstGeom prst="roundRect">
            <a:avLst/>
          </a:prstGeom>
          <a:solidFill>
            <a:srgbClr val="FDE8C8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15812" y="5661702"/>
            <a:ext cx="1419300" cy="1429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DeepSeek generation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15812" y="5978696"/>
            <a:ext cx="1419300" cy="808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deepseek-chat · T=0.2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191838" y="3149179"/>
            <a:ext cx="1290925" cy="653431"/>
          </a:xfrm>
          <a:prstGeom prst="roundRect">
            <a:avLst/>
          </a:prstGeom>
          <a:solidFill>
            <a:srgbClr val="E8F5E9"/>
          </a:solidFill>
          <a:ln w="14604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256384" y="3397482"/>
            <a:ext cx="1161832" cy="1502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Optimized prompt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56384" y="3711129"/>
            <a:ext cx="1161832" cy="849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prompt + notes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191838" y="4105420"/>
            <a:ext cx="1290925" cy="653431"/>
          </a:xfrm>
          <a:prstGeom prst="roundRect">
            <a:avLst/>
          </a:prstGeom>
          <a:solidFill>
            <a:srgbClr val="E8F5E9"/>
          </a:solidFill>
          <a:ln w="14604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56384" y="4353723"/>
            <a:ext cx="1161832" cy="1502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Evidence trace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56384" y="4667370"/>
            <a:ext cx="1161832" cy="849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sources + chunks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59042" y="3189022"/>
            <a:ext cx="1450299" cy="573744"/>
          </a:xfrm>
          <a:prstGeom prst="roundRect">
            <a:avLst/>
          </a:prstGeom>
          <a:solidFill>
            <a:srgbClr val="E1F1DB"/>
          </a:solidFill>
          <a:ln w="127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31556" y="3389832"/>
            <a:ext cx="1305269" cy="131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69" b="1">
                <a:solidFill>
                  <a:srgbClr val="263238"/>
                </a:solidFill>
                <a:latin typeface="Arial"/>
              </a:defRPr>
            </a:pPr>
            <a:r>
              <a:t>JSON response parser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31556" y="3682441"/>
            <a:ext cx="1305269" cy="745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680" b="0">
                <a:solidFill>
                  <a:srgbClr val="263238"/>
                </a:solidFill>
                <a:latin typeface="Arial"/>
              </a:defRPr>
            </a:pPr>
            <a:r>
              <a:t>JSON +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